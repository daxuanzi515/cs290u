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2" r:id="rId3"/>
    <p:sldId id="260" r:id="rId4"/>
    <p:sldId id="259" r:id="rId5"/>
    <p:sldId id="263" r:id="rId6"/>
    <p:sldId id="258" r:id="rId7"/>
    <p:sldId id="265" r:id="rId8"/>
    <p:sldId id="264" r:id="rId9"/>
    <p:sldId id="266" r:id="rId10"/>
    <p:sldId id="25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2D1B654-1D64-4D35-B286-637430B3A7FD}">
          <p14:sldIdLst>
            <p14:sldId id="256"/>
          </p14:sldIdLst>
        </p14:section>
        <p14:section name="basic" id="{90AE7B87-7B43-49C3-9EFE-364B63A359C7}">
          <p14:sldIdLst>
            <p14:sldId id="262"/>
            <p14:sldId id="260"/>
            <p14:sldId id="259"/>
          </p14:sldIdLst>
        </p14:section>
        <p14:section name="advanced" id="{4C2069DB-1440-4E49-B107-93FEA5224BF4}">
          <p14:sldIdLst>
            <p14:sldId id="263"/>
            <p14:sldId id="258"/>
            <p14:sldId id="265"/>
            <p14:sldId id="264"/>
            <p14:sldId id="26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031" autoAdjust="0"/>
  </p:normalViewPr>
  <p:slideViewPr>
    <p:cSldViewPr snapToGrid="0">
      <p:cViewPr>
        <p:scale>
          <a:sx n="75" d="100"/>
          <a:sy n="75" d="100"/>
        </p:scale>
        <p:origin x="946" y="43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1D51EC-88A6-4C67-8E70-68E239B31EF9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B43B3-A600-44EB-8F7F-C3FB9DB15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5660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517FA5-9BE5-467A-A20B-8929A9CBE635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83F87-3E6C-496F-9E74-D925704B1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9553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我将从</a:t>
            </a:r>
            <a:r>
              <a:rPr lang="en-US" altLang="zh-CN" dirty="0" smtClean="0"/>
              <a:t>basic task</a:t>
            </a:r>
            <a:r>
              <a:rPr lang="zh-CN" altLang="en-US" dirty="0" smtClean="0"/>
              <a:t>和 </a:t>
            </a:r>
            <a:r>
              <a:rPr lang="en-US" altLang="zh-CN" dirty="0" smtClean="0"/>
              <a:t>advanced</a:t>
            </a:r>
            <a:r>
              <a:rPr lang="en-US" altLang="zh-CN" baseline="0" dirty="0" smtClean="0"/>
              <a:t> task</a:t>
            </a:r>
            <a:r>
              <a:rPr lang="zh-CN" altLang="en-US" baseline="0" dirty="0" smtClean="0"/>
              <a:t>两个方面来展开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D83F87-3E6C-496F-9E74-D925704B179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479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选了一个我在夜游黄浦江时拍摄的</a:t>
            </a:r>
            <a:r>
              <a:rPr lang="en-US" altLang="zh-CN" dirty="0" smtClean="0"/>
              <a:t>10</a:t>
            </a:r>
            <a:r>
              <a:rPr lang="zh-CN" altLang="en-US" dirty="0" smtClean="0"/>
              <a:t>秒左右的视频，经过视频提取工具抽帧得到图片若干，之后放到</a:t>
            </a:r>
            <a:r>
              <a:rPr lang="en-US" altLang="zh-CN" dirty="0" err="1" smtClean="0"/>
              <a:t>colmap</a:t>
            </a:r>
            <a:r>
              <a:rPr lang="zh-CN" altLang="en-US" dirty="0" smtClean="0"/>
              <a:t>工具里提取特征和匹配</a:t>
            </a:r>
            <a:r>
              <a:rPr lang="en-US" altLang="zh-CN" dirty="0" smtClean="0"/>
              <a:t>=&gt;</a:t>
            </a:r>
            <a:r>
              <a:rPr lang="zh-CN" altLang="en-US" dirty="0" smtClean="0"/>
              <a:t>相当于得到这个视频的</a:t>
            </a:r>
            <a:r>
              <a:rPr lang="en-US" altLang="zh-CN" dirty="0" smtClean="0"/>
              <a:t>GT</a:t>
            </a:r>
            <a:r>
              <a:rPr lang="zh-CN" altLang="en-US" dirty="0" smtClean="0"/>
              <a:t>数据</a:t>
            </a:r>
            <a:endParaRPr lang="en-US" altLang="zh-CN" dirty="0" smtClean="0"/>
          </a:p>
          <a:p>
            <a:r>
              <a:rPr lang="zh-CN" altLang="en-US" dirty="0" smtClean="0"/>
              <a:t>对于这个视频数据有多种采集帧的方式，</a:t>
            </a:r>
            <a:r>
              <a:rPr lang="zh-CN" altLang="en-US" dirty="0" smtClean="0"/>
              <a:t>比如抽样等量</a:t>
            </a:r>
            <a:r>
              <a:rPr lang="zh-CN" altLang="en-US" dirty="0" smtClean="0"/>
              <a:t>间隔，固定帧率采集，前</a:t>
            </a:r>
            <a:r>
              <a:rPr lang="en-US" altLang="zh-CN" dirty="0" smtClean="0"/>
              <a:t>N</a:t>
            </a:r>
            <a:r>
              <a:rPr lang="zh-CN" altLang="en-US" dirty="0" smtClean="0"/>
              <a:t>帧采集，这里为了方便直接计算理想的帧</a:t>
            </a:r>
            <a:r>
              <a:rPr lang="zh-CN" altLang="en-US" dirty="0" smtClean="0"/>
              <a:t>率</a:t>
            </a:r>
            <a:r>
              <a:rPr lang="en-US" altLang="zh-CN" dirty="0" smtClean="0"/>
              <a:t>=3.6</a:t>
            </a:r>
            <a:r>
              <a:rPr lang="zh-CN" altLang="en-US" dirty="0" smtClean="0"/>
              <a:t>抽样采集</a:t>
            </a:r>
            <a:r>
              <a:rPr lang="en-US" altLang="zh-CN" dirty="0" smtClean="0"/>
              <a:t>37</a:t>
            </a:r>
            <a:r>
              <a:rPr lang="zh-CN" altLang="en-US" dirty="0" smtClean="0"/>
              <a:t>张图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但是在使用</a:t>
            </a:r>
            <a:r>
              <a:rPr lang="en-US" altLang="zh-CN" dirty="0" err="1" smtClean="0"/>
              <a:t>Colmap</a:t>
            </a:r>
            <a:r>
              <a:rPr lang="zh-CN" altLang="en-US" dirty="0" smtClean="0"/>
              <a:t>的过程中有几个我遇到的问题点：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相机设置 </a:t>
            </a:r>
            <a:r>
              <a:rPr lang="en-US" altLang="zh-CN" dirty="0" smtClean="0"/>
              <a:t>2.</a:t>
            </a:r>
            <a:r>
              <a:rPr lang="zh-CN" altLang="en-US" dirty="0" smtClean="0"/>
              <a:t>匹配模式选择  </a:t>
            </a:r>
            <a:r>
              <a:rPr lang="en-US" altLang="zh-CN" dirty="0" smtClean="0"/>
              <a:t>3.</a:t>
            </a:r>
            <a:r>
              <a:rPr lang="zh-CN" altLang="en-US" dirty="0" smtClean="0"/>
              <a:t>帧</a:t>
            </a:r>
            <a:r>
              <a:rPr lang="zh-CN" altLang="en-US" dirty="0" smtClean="0"/>
              <a:t>采样</a:t>
            </a:r>
            <a:endParaRPr lang="en-US" altLang="zh-CN" dirty="0" smtClean="0"/>
          </a:p>
          <a:p>
            <a:r>
              <a:rPr lang="zh-CN" altLang="en-US" dirty="0" smtClean="0"/>
              <a:t>设置单一相机来保证内参一致，位置位姿求解稳定性（不同相机会破坏）</a:t>
            </a:r>
            <a:endParaRPr lang="en-US" altLang="zh-CN" dirty="0" smtClean="0"/>
          </a:p>
          <a:p>
            <a:r>
              <a:rPr lang="zh-CN" altLang="en-US" dirty="0" smtClean="0"/>
              <a:t>提供两个匹配模式，全量会把所有图像两两匹配，但是由于我拍摄的是视频帧，连续模式在相邻帧间匹配更好。</a:t>
            </a:r>
            <a:endParaRPr lang="en-US" altLang="zh-CN" dirty="0" smtClean="0"/>
          </a:p>
          <a:p>
            <a:r>
              <a:rPr lang="zh-CN" altLang="en-US" dirty="0" smtClean="0"/>
              <a:t>连续采集和抽样采集，连续采集会导致图像过密，退化出现</a:t>
            </a:r>
            <a:r>
              <a:rPr lang="en-US" altLang="zh-CN" dirty="0" smtClean="0"/>
              <a:t>AUC=0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D83F87-3E6C-496F-9E74-D925704B179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425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这是选取的</a:t>
            </a:r>
            <a:r>
              <a:rPr lang="en-US" altLang="zh-CN" dirty="0" smtClean="0"/>
              <a:t>22-34</a:t>
            </a:r>
            <a:r>
              <a:rPr lang="zh-CN" altLang="en-US" dirty="0" smtClean="0"/>
              <a:t>帧匹配的例图</a:t>
            </a:r>
            <a:endParaRPr lang="en-US" altLang="zh-CN" dirty="0" smtClean="0"/>
          </a:p>
          <a:p>
            <a:r>
              <a:rPr lang="zh-CN" altLang="en-US" dirty="0" smtClean="0"/>
              <a:t>它在上面找到匹配的点并进行了图像绘制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D83F87-3E6C-496F-9E74-D925704B179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5255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 err="1" smtClean="0"/>
              <a:t>AUC@5</a:t>
            </a:r>
            <a:r>
              <a:rPr lang="en-US" altLang="zh-CN" b="1" dirty="0" smtClean="0"/>
              <a:t>, </a:t>
            </a:r>
            <a:r>
              <a:rPr lang="en-US" altLang="zh-CN" b="1" dirty="0" err="1" smtClean="0"/>
              <a:t>AUC@10</a:t>
            </a:r>
            <a:r>
              <a:rPr lang="zh-CN" altLang="en-US" dirty="0" smtClean="0"/>
              <a:t>：表示匹配重投影误差（</a:t>
            </a:r>
            <a:r>
              <a:rPr lang="en-US" altLang="zh-CN" dirty="0" err="1" smtClean="0"/>
              <a:t>reprojection</a:t>
            </a:r>
            <a:r>
              <a:rPr lang="en-US" altLang="zh-CN" dirty="0" smtClean="0"/>
              <a:t> error</a:t>
            </a:r>
            <a:r>
              <a:rPr lang="zh-CN" altLang="en-US" dirty="0" smtClean="0"/>
              <a:t>）在 </a:t>
            </a:r>
            <a:r>
              <a:rPr lang="en-US" altLang="zh-CN" dirty="0" smtClean="0"/>
              <a:t>5 </a:t>
            </a:r>
            <a:r>
              <a:rPr lang="zh-CN" altLang="en-US" dirty="0" smtClean="0"/>
              <a:t>像素、</a:t>
            </a:r>
            <a:r>
              <a:rPr lang="en-US" altLang="zh-CN" dirty="0" smtClean="0"/>
              <a:t>10 </a:t>
            </a:r>
            <a:r>
              <a:rPr lang="zh-CN" altLang="en-US" dirty="0" smtClean="0"/>
              <a:t>像素阈值内的累计准确率曲线（</a:t>
            </a:r>
            <a:r>
              <a:rPr lang="en-US" altLang="zh-CN" dirty="0" smtClean="0"/>
              <a:t>Area Under Curve</a:t>
            </a:r>
            <a:r>
              <a:rPr lang="zh-CN" altLang="en-US" dirty="0" smtClean="0"/>
              <a:t>）。数值越高，说明在较小误差范围内匹配越精确。</a:t>
            </a:r>
            <a:r>
              <a:rPr lang="en-US" altLang="zh-CN" dirty="0" smtClean="0"/>
              <a:t>(</a:t>
            </a:r>
            <a:r>
              <a:rPr lang="zh-CN" altLang="en-US" dirty="0" smtClean="0"/>
              <a:t>关注</a:t>
            </a:r>
            <a:r>
              <a:rPr lang="en-US" altLang="zh-CN" dirty="0" smtClean="0"/>
              <a:t>)</a:t>
            </a:r>
            <a:endParaRPr lang="zh-CN" altLang="en-US" dirty="0" smtClean="0"/>
          </a:p>
          <a:p>
            <a:r>
              <a:rPr lang="en-US" altLang="zh-CN" b="1" dirty="0" err="1" smtClean="0"/>
              <a:t>Prec</a:t>
            </a:r>
            <a:r>
              <a:rPr lang="zh-CN" altLang="en-US" b="1" dirty="0" smtClean="0"/>
              <a:t>（</a:t>
            </a:r>
            <a:r>
              <a:rPr lang="en-US" altLang="zh-CN" b="1" dirty="0" smtClean="0"/>
              <a:t>Precision</a:t>
            </a:r>
            <a:r>
              <a:rPr lang="zh-CN" altLang="en-US" b="1" dirty="0" smtClean="0"/>
              <a:t>）</a:t>
            </a:r>
            <a:r>
              <a:rPr lang="zh-CN" altLang="en-US" dirty="0" smtClean="0"/>
              <a:t>：在设定像素阈值（通常为 </a:t>
            </a:r>
            <a:r>
              <a:rPr lang="en-US" altLang="zh-CN" dirty="0" err="1" smtClean="0"/>
              <a:t>3px</a:t>
            </a:r>
            <a:r>
              <a:rPr lang="zh-CN" altLang="en-US" dirty="0" smtClean="0"/>
              <a:t>）下的匹配精度，反映模型在正确匹配点中的比例。</a:t>
            </a:r>
          </a:p>
          <a:p>
            <a:r>
              <a:rPr lang="en-US" altLang="zh-CN" b="1" dirty="0" err="1" smtClean="0"/>
              <a:t>MScore</a:t>
            </a:r>
            <a:r>
              <a:rPr lang="zh-CN" altLang="en-US" b="1" dirty="0" smtClean="0"/>
              <a:t>（</a:t>
            </a:r>
            <a:r>
              <a:rPr lang="en-US" altLang="zh-CN" b="1" dirty="0" smtClean="0"/>
              <a:t>Mean Score</a:t>
            </a:r>
            <a:r>
              <a:rPr lang="zh-CN" altLang="en-US" b="1" dirty="0" smtClean="0"/>
              <a:t>）</a:t>
            </a:r>
            <a:r>
              <a:rPr lang="zh-CN" altLang="en-US" dirty="0" smtClean="0"/>
              <a:t>：匹配置信度的平均值（平均匹配质量分数），综合反映整体特征对应的稳定性与置信度水平。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当视频帧连续且密集时，直接将 </a:t>
            </a:r>
            <a:r>
              <a:rPr lang="en-US" altLang="zh-CN" dirty="0" err="1" smtClean="0"/>
              <a:t>COLMAP</a:t>
            </a:r>
            <a:r>
              <a:rPr lang="en-US" altLang="zh-CN" dirty="0" smtClean="0"/>
              <a:t> </a:t>
            </a:r>
            <a:r>
              <a:rPr lang="zh-CN" altLang="en-US" dirty="0" smtClean="0"/>
              <a:t>应用于所有帧会显著降低 </a:t>
            </a:r>
            <a:r>
              <a:rPr lang="en-US" altLang="zh-CN" dirty="0" smtClean="0"/>
              <a:t>AUC </a:t>
            </a:r>
            <a:r>
              <a:rPr lang="zh-CN" altLang="en-US" dirty="0" smtClean="0"/>
              <a:t>表现，这是由于相邻帧视角过近、特征分布相似度过高，造成匹配退化。通过引入帧间跳采样（</a:t>
            </a:r>
            <a:r>
              <a:rPr lang="en-US" altLang="zh-CN" dirty="0" smtClean="0"/>
              <a:t>skip</a:t>
            </a:r>
            <a:r>
              <a:rPr lang="zh-CN" altLang="en-US" dirty="0" smtClean="0"/>
              <a:t>）与最小角度筛选，可以获得更合理的图像对分布，从而在</a:t>
            </a:r>
            <a:r>
              <a:rPr lang="zh-CN" altLang="en-US" dirty="0" smtClean="0"/>
              <a:t>精度与稳定性上</a:t>
            </a:r>
            <a:r>
              <a:rPr lang="zh-CN" altLang="en-US" dirty="0" smtClean="0"/>
              <a:t>均</a:t>
            </a:r>
            <a:r>
              <a:rPr lang="zh-CN" altLang="en-US" dirty="0" smtClean="0"/>
              <a:t>达到均衡的结果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D83F87-3E6C-496F-9E74-D925704B179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793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数据集集中选了</a:t>
            </a:r>
            <a:r>
              <a:rPr lang="en-US" altLang="zh-CN" dirty="0" err="1" smtClean="0"/>
              <a:t>HorizonGS</a:t>
            </a:r>
            <a:r>
              <a:rPr lang="en-US" altLang="zh-CN" baseline="0" dirty="0" smtClean="0"/>
              <a:t> </a:t>
            </a:r>
            <a:r>
              <a:rPr lang="en-US" altLang="zh-CN" baseline="0" dirty="0" smtClean="0"/>
              <a:t>road</a:t>
            </a:r>
            <a:r>
              <a:rPr lang="zh-CN" altLang="en-US" baseline="0" dirty="0" smtClean="0"/>
              <a:t>包</a:t>
            </a:r>
            <a:endParaRPr lang="en-US" altLang="zh-CN" baseline="0" dirty="0" smtClean="0"/>
          </a:p>
          <a:p>
            <a:r>
              <a:rPr lang="zh-CN" altLang="en-US" baseline="0" dirty="0" smtClean="0"/>
              <a:t>针对</a:t>
            </a:r>
            <a:r>
              <a:rPr lang="zh-CN" altLang="en-US" baseline="0" dirty="0" smtClean="0"/>
              <a:t>三个场景选出不同角度的数据集：</a:t>
            </a:r>
            <a:endParaRPr lang="en-US" altLang="zh-CN" dirty="0" smtClean="0"/>
          </a:p>
          <a:p>
            <a:r>
              <a:rPr lang="en-US" altLang="zh-CN" dirty="0" smtClean="0"/>
              <a:t>1. </a:t>
            </a:r>
            <a:r>
              <a:rPr lang="zh-CN" altLang="en-US" dirty="0" smtClean="0"/>
              <a:t>垂直</a:t>
            </a:r>
            <a:r>
              <a:rPr lang="zh-CN" altLang="en-US" dirty="0" smtClean="0"/>
              <a:t>视角</a:t>
            </a:r>
            <a:endParaRPr lang="en-US" altLang="zh-CN" dirty="0" smtClean="0"/>
          </a:p>
          <a:p>
            <a:r>
              <a:rPr lang="en-US" altLang="zh-CN" dirty="0" smtClean="0"/>
              <a:t>2. </a:t>
            </a:r>
            <a:r>
              <a:rPr lang="zh-CN" altLang="en-US" dirty="0" smtClean="0"/>
              <a:t>倾斜</a:t>
            </a:r>
            <a:r>
              <a:rPr lang="zh-CN" altLang="en-US" dirty="0" smtClean="0"/>
              <a:t>视角</a:t>
            </a:r>
            <a:endParaRPr lang="en-US" altLang="zh-CN" dirty="0" smtClean="0"/>
          </a:p>
          <a:p>
            <a:r>
              <a:rPr lang="en-US" altLang="zh-CN" dirty="0" smtClean="0"/>
              <a:t>3. </a:t>
            </a:r>
            <a:r>
              <a:rPr lang="zh-CN" altLang="en-US" dirty="0" smtClean="0"/>
              <a:t>地面</a:t>
            </a:r>
            <a:r>
              <a:rPr lang="zh-CN" altLang="en-US" dirty="0" smtClean="0"/>
              <a:t>和车辆视角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D83F87-3E6C-496F-9E74-D925704B179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97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都是基于重投影误差的匹配精度</a:t>
            </a:r>
            <a:endParaRPr lang="en-US" altLang="zh-CN" dirty="0" smtClean="0"/>
          </a:p>
          <a:p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en-US" altLang="zh-CN" dirty="0" err="1" smtClean="0"/>
              <a:t>MASt3R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的核心思想是通过双视图特征回归实现几何匹配，其评估方式依赖跨视图的</a:t>
            </a:r>
            <a:r>
              <a:rPr lang="zh-CN" altLang="en-US" b="1" dirty="0" smtClean="0"/>
              <a:t>重投影误差（</a:t>
            </a:r>
            <a:r>
              <a:rPr lang="en-US" altLang="zh-CN" b="1" dirty="0" err="1" smtClean="0"/>
              <a:t>reprojection</a:t>
            </a:r>
            <a:r>
              <a:rPr lang="en-US" altLang="zh-CN" b="1" dirty="0" smtClean="0"/>
              <a:t> error</a:t>
            </a:r>
            <a:r>
              <a:rPr lang="zh-CN" altLang="en-US" b="1" dirty="0" smtClean="0"/>
              <a:t>）</a:t>
            </a:r>
            <a:r>
              <a:rPr lang="zh-CN" altLang="en-US" dirty="0" smtClean="0"/>
              <a:t>，从而验证模型在已知相机姿态下能否保持几何一致性。该方法主要衡量匹配点在空间投影中的对齐精度，因此在特征稠密、视差合理的情况下能精确反映几何约束的可靠性</a:t>
            </a:r>
            <a:r>
              <a:rPr lang="zh-CN" altLang="en-US" dirty="0" smtClean="0"/>
              <a:t>。</a:t>
            </a:r>
            <a:r>
              <a:rPr lang="en-US" altLang="zh-CN" dirty="0" smtClean="0"/>
              <a:t>//</a:t>
            </a:r>
            <a:r>
              <a:rPr lang="zh-CN" altLang="en-US" dirty="0" smtClean="0"/>
              <a:t>然而</a:t>
            </a:r>
            <a:r>
              <a:rPr lang="zh-CN" altLang="en-US" dirty="0" smtClean="0"/>
              <a:t>，它依赖于预训练特征匹配模块，对图像分辨率和尺度变化较为敏感。</a:t>
            </a:r>
          </a:p>
          <a:p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en-US" altLang="zh-CN" dirty="0" err="1" smtClean="0"/>
              <a:t>VGGT</a:t>
            </a:r>
            <a:r>
              <a:rPr lang="en-US" altLang="zh-CN" dirty="0" smtClean="0"/>
              <a:t> </a:t>
            </a:r>
            <a:r>
              <a:rPr lang="zh-CN" altLang="en-US" dirty="0" smtClean="0"/>
              <a:t>则通过 </a:t>
            </a:r>
            <a:r>
              <a:rPr lang="en-US" altLang="zh-CN" b="1" dirty="0" smtClean="0"/>
              <a:t>Transformer </a:t>
            </a:r>
            <a:r>
              <a:rPr lang="zh-CN" altLang="en-US" b="1" dirty="0" smtClean="0"/>
              <a:t>的多视图几何建模能力</a:t>
            </a:r>
            <a:r>
              <a:rPr lang="zh-CN" altLang="en-US" dirty="0" smtClean="0"/>
              <a:t>，直接从图像预测稠密三维点云，并通过端到端的点云重投影误差评估</a:t>
            </a:r>
            <a:r>
              <a:rPr lang="zh-CN" altLang="en-US" b="1" dirty="0" smtClean="0"/>
              <a:t>结构一致性（</a:t>
            </a:r>
            <a:r>
              <a:rPr lang="en-US" altLang="zh-CN" b="1" dirty="0" smtClean="0"/>
              <a:t>structural consistency</a:t>
            </a:r>
            <a:r>
              <a:rPr lang="zh-CN" altLang="en-US" b="1" dirty="0" smtClean="0"/>
              <a:t>）</a:t>
            </a:r>
            <a:r>
              <a:rPr lang="zh-CN" altLang="en-US" dirty="0" smtClean="0"/>
              <a:t>。它不再显式依赖特征匹配，而是从整体结构层面度量重建能力，能更直观地反映模型的三维场景理解性能。相比之下，虽然 </a:t>
            </a:r>
            <a:r>
              <a:rPr lang="en-US" altLang="zh-CN" dirty="0" err="1" smtClean="0"/>
              <a:t>VGGT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的计算成本更高，对输入尺寸有严格要求，但其在重建精度与结构一致性上的表现更加稳健。</a:t>
            </a:r>
          </a:p>
          <a:p>
            <a:r>
              <a:rPr lang="zh-CN" altLang="en-US" dirty="0" smtClean="0"/>
              <a:t>评估程序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D83F87-3E6C-496F-9E74-D925704B179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73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从表中可以看出，</a:t>
            </a:r>
            <a:r>
              <a:rPr lang="en-US" altLang="zh-CN" b="1" dirty="0" err="1" smtClean="0"/>
              <a:t>VGGT</a:t>
            </a:r>
            <a:r>
              <a:rPr lang="en-US" altLang="zh-CN" b="1" dirty="0" smtClean="0"/>
              <a:t> </a:t>
            </a:r>
            <a:r>
              <a:rPr lang="zh-CN" altLang="en-US" b="1" dirty="0" smtClean="0"/>
              <a:t>在所有场景下都取得了接近 </a:t>
            </a:r>
            <a:r>
              <a:rPr lang="en-US" altLang="zh-CN" b="1" dirty="0" smtClean="0"/>
              <a:t>100% </a:t>
            </a:r>
            <a:r>
              <a:rPr lang="zh-CN" altLang="en-US" b="1" dirty="0" smtClean="0"/>
              <a:t>的 </a:t>
            </a:r>
            <a:r>
              <a:rPr lang="en-US" altLang="zh-CN" b="1" dirty="0" smtClean="0"/>
              <a:t>AUC </a:t>
            </a:r>
            <a:r>
              <a:rPr lang="zh-CN" altLang="en-US" b="1" dirty="0" smtClean="0"/>
              <a:t>值</a:t>
            </a:r>
            <a:r>
              <a:rPr lang="zh-CN" altLang="en-US" dirty="0" smtClean="0"/>
              <a:t>，说明其在几何匹配精度和一致性方面表现最优，且平均重投影误差最低（不足 </a:t>
            </a:r>
            <a:r>
              <a:rPr lang="en-US" altLang="zh-CN" dirty="0" smtClean="0"/>
              <a:t>1–3 </a:t>
            </a:r>
            <a:r>
              <a:rPr lang="zh-CN" altLang="en-US" dirty="0" smtClean="0"/>
              <a:t>像素），体现出端到端 </a:t>
            </a:r>
            <a:r>
              <a:rPr lang="en-US" altLang="zh-CN" dirty="0" smtClean="0"/>
              <a:t>Transformer </a:t>
            </a:r>
            <a:r>
              <a:rPr lang="zh-CN" altLang="en-US" dirty="0" smtClean="0"/>
              <a:t>模型在空间几何学习上的强大泛化能力。</a:t>
            </a:r>
            <a:endParaRPr lang="en-US" altLang="zh-CN" dirty="0" smtClean="0"/>
          </a:p>
          <a:p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en-US" altLang="zh-CN" b="1" dirty="0" err="1" smtClean="0"/>
              <a:t>MASt3R</a:t>
            </a:r>
            <a:r>
              <a:rPr lang="zh-CN" altLang="en-US" dirty="0" smtClean="0"/>
              <a:t> 虽然基于局部特征回归，但在经过重投影对齐和像素尺度归一化后，依然能保持极高的 </a:t>
            </a:r>
            <a:r>
              <a:rPr lang="en-US" altLang="zh-CN" dirty="0" smtClean="0"/>
              <a:t>AUC </a:t>
            </a:r>
            <a:r>
              <a:rPr lang="zh-CN" altLang="en-US" dirty="0" smtClean="0"/>
              <a:t>和稳定性，展现出良好的鲁棒性。</a:t>
            </a:r>
            <a:br>
              <a:rPr lang="zh-CN" altLang="en-US" dirty="0" smtClean="0"/>
            </a:br>
            <a:r>
              <a:rPr lang="zh-CN" altLang="en-US" dirty="0" smtClean="0"/>
              <a:t>相对而言，</a:t>
            </a:r>
            <a:r>
              <a:rPr lang="en-US" altLang="zh-CN" b="1" dirty="0" err="1" smtClean="0"/>
              <a:t>SuperGlue</a:t>
            </a:r>
            <a:r>
              <a:rPr lang="zh-CN" altLang="en-US" dirty="0" smtClean="0"/>
              <a:t> 在连续帧或低视差（如垂直航拍）场景下效果明显下降，这是由于相邻帧间特征过于相似、几何基线过短，导致匹配退化和不稳定。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D83F87-3E6C-496F-9E74-D925704B179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63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重建部分 由于官方没有提供系统的</a:t>
            </a:r>
            <a:r>
              <a:rPr lang="en-US" altLang="zh-CN" dirty="0" err="1" smtClean="0"/>
              <a:t>eval</a:t>
            </a:r>
            <a:r>
              <a:rPr lang="zh-CN" altLang="en-US" dirty="0" smtClean="0"/>
              <a:t>流程 这里只做了效果图展示</a:t>
            </a:r>
            <a:endParaRPr lang="en-US" altLang="zh-CN" dirty="0" smtClean="0"/>
          </a:p>
          <a:p>
            <a:r>
              <a:rPr lang="zh-CN" altLang="en-US" dirty="0" smtClean="0"/>
              <a:t>下载</a:t>
            </a:r>
            <a:r>
              <a:rPr lang="en-US" altLang="zh-CN" dirty="0" err="1" smtClean="0"/>
              <a:t>glb</a:t>
            </a:r>
            <a:r>
              <a:rPr lang="zh-CN" altLang="en-US" dirty="0" smtClean="0"/>
              <a:t>模型数据之后，可以在自己的</a:t>
            </a:r>
            <a:r>
              <a:rPr lang="en-US" altLang="zh-CN" dirty="0" err="1" smtClean="0"/>
              <a:t>viser</a:t>
            </a:r>
            <a:r>
              <a:rPr lang="zh-CN" altLang="en-US" dirty="0" smtClean="0"/>
              <a:t>本地服务器上读取模型和</a:t>
            </a:r>
            <a:r>
              <a:rPr lang="zh-CN" altLang="en-US" dirty="0" smtClean="0"/>
              <a:t>查看（右上角）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D83F87-3E6C-496F-9E74-D925704B179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4634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剩下是</a:t>
            </a:r>
            <a:r>
              <a:rPr lang="en-US" altLang="zh-CN" dirty="0" err="1" smtClean="0"/>
              <a:t>vggt</a:t>
            </a:r>
            <a:r>
              <a:rPr lang="zh-CN" altLang="en-US" dirty="0" smtClean="0"/>
              <a:t>在官方提供的在线网站跑的视频建图</a:t>
            </a:r>
            <a:endParaRPr lang="en-US" altLang="zh-CN" dirty="0" smtClean="0"/>
          </a:p>
          <a:p>
            <a:r>
              <a:rPr lang="zh-CN" altLang="en-US" dirty="0" smtClean="0"/>
              <a:t>第一个数据集来源于</a:t>
            </a:r>
            <a:r>
              <a:rPr lang="en-US" altLang="zh-CN" dirty="0" err="1" smtClean="0"/>
              <a:t>rgbd</a:t>
            </a:r>
            <a:r>
              <a:rPr lang="zh-CN" altLang="en-US" dirty="0" smtClean="0"/>
              <a:t>数据集，大部分是</a:t>
            </a:r>
            <a:r>
              <a:rPr lang="en-US" altLang="zh-CN" dirty="0" smtClean="0"/>
              <a:t>slam</a:t>
            </a:r>
            <a:r>
              <a:rPr lang="zh-CN" altLang="en-US" dirty="0" smtClean="0"/>
              <a:t>的数据</a:t>
            </a:r>
            <a:endParaRPr lang="en-US" altLang="zh-CN" dirty="0" smtClean="0"/>
          </a:p>
          <a:p>
            <a:r>
              <a:rPr lang="zh-CN" altLang="en-US" dirty="0" smtClean="0"/>
              <a:t>我的仓库链接提供如下，里面包含所有项目的记录</a:t>
            </a:r>
            <a:r>
              <a:rPr lang="zh-CN" altLang="en-US" smtClean="0"/>
              <a:t>和</a:t>
            </a:r>
            <a:r>
              <a:rPr lang="zh-CN" altLang="en-US" smtClean="0"/>
              <a:t>代码（有更新）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D83F87-3E6C-496F-9E74-D925704B179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656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谢谢大家！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D83F87-3E6C-496F-9E74-D925704B179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827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C87C-0F1C-41C0-A289-2BD5BDDE2B09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742D-938E-4DDD-89D8-3F0A2D2D94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375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69E15-A908-44CA-B25F-7F2D0C82A2FF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742D-938E-4DDD-89D8-3F0A2D2D94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590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5F670-5623-48B9-841B-792A4AD0F938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742D-938E-4DDD-89D8-3F0A2D2D94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618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34E32-5EAC-41BA-99FD-51FA0EF8A2AE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742D-938E-4DDD-89D8-3F0A2D2D94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075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8D5B-2642-4AAB-B21C-EDC5CEF51C95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742D-938E-4DDD-89D8-3F0A2D2D94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243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8200D-513C-458C-9EBE-307372AA8E78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742D-938E-4DDD-89D8-3F0A2D2D94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713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C277-F224-459B-8AC3-0BAB69637064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rgbClr val="FF0000"/>
                </a:solidFill>
              </a:defRPr>
            </a:lvl1pPr>
          </a:lstStyle>
          <a:p>
            <a:fld id="{542D742D-938E-4DDD-89D8-3F0A2D2D947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22018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C523-88AE-40CC-8CF4-A8D798D2A550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742D-938E-4DDD-89D8-3F0A2D2D94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886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CC4A0-2020-41F1-8DCC-88B48E73EFD1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742D-938E-4DDD-89D8-3F0A2D2D94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09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947E-2EC3-45D8-BFD5-BF4044BE09E8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742D-938E-4DDD-89D8-3F0A2D2D94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09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C330E-CF4E-46B7-B606-04497945F109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742D-938E-4DDD-89D8-3F0A2D2D94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459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7FFD9-ABC8-4161-84C9-360EC42F6FFF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2D742D-938E-4DDD-89D8-3F0A2D2D94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871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BoDai/HorizonGS/tree/main/rea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daxuanzi515/cs290U" TargetMode="External"/><Relationship Id="rId5" Type="http://schemas.openxmlformats.org/officeDocument/2006/relationships/hyperlink" Target="https://cvg.cit.tum.de/data/datasets/rgbd-dataset/download" TargetMode="External"/><Relationship Id="rId4" Type="http://schemas.openxmlformats.org/officeDocument/2006/relationships/hyperlink" Target="https://huggingface.co/spaces/facebook/vggt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524000" y="162007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2: Image Matching, Camera Pose Estimation, and 3D Reconstruction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1524000" y="4146306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Xuanxin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25.11.3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268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3760" y="243840"/>
            <a:ext cx="22755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 Task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49757" y="3389313"/>
            <a:ext cx="1099722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Colmap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Direct Process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database.db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=&gt;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pply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feature_extractor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=&gt; Apply Mapper =&gt; Convert binary file to TXT file</a:t>
            </a:r>
          </a:p>
          <a:p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Trouble Shooting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AutoNum type="arabicParenBoth"/>
            </a:pP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ImageReader.single_camera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 if not =&gt; create different cameras for each frames</a:t>
            </a:r>
          </a:p>
          <a:p>
            <a:pPr marL="457200" indent="-457200">
              <a:buAutoNum type="arabicParenBoth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mode =&gt; Exhaustive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</a:t>
            </a:r>
          </a:p>
          <a:p>
            <a:pPr marL="457200" indent="-457200">
              <a:buAutoNum type="arabicParenBoth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Frames sampling =&gt; a number of continuous frames result in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AUC@5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/10/* = 0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065991" y="1333185"/>
            <a:ext cx="2440830" cy="1786282"/>
            <a:chOff x="1065991" y="1333185"/>
            <a:chExt cx="2440830" cy="1786282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5991" y="1333185"/>
              <a:ext cx="2440830" cy="1372967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1123139" y="2719357"/>
              <a:ext cx="23265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ShanghaiCenter.mp4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949140" y="1239934"/>
            <a:ext cx="2732652" cy="2246588"/>
            <a:chOff x="4949140" y="1239934"/>
            <a:chExt cx="2732652" cy="2246588"/>
          </a:xfrm>
        </p:grpSpPr>
        <p:grpSp>
          <p:nvGrpSpPr>
            <p:cNvPr id="9" name="组合 8"/>
            <p:cNvGrpSpPr/>
            <p:nvPr/>
          </p:nvGrpSpPr>
          <p:grpSpPr>
            <a:xfrm>
              <a:off x="4949140" y="1239934"/>
              <a:ext cx="2732652" cy="1799617"/>
              <a:chOff x="866667" y="1119861"/>
              <a:chExt cx="2732652" cy="1799617"/>
            </a:xfrm>
          </p:grpSpPr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66667" y="1119861"/>
                <a:ext cx="2132652" cy="1199617"/>
              </a:xfrm>
              <a:prstGeom prst="rect">
                <a:avLst/>
              </a:prstGeom>
            </p:spPr>
          </p:pic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6667" y="1269861"/>
                <a:ext cx="2132652" cy="1199617"/>
              </a:xfrm>
              <a:prstGeom prst="rect">
                <a:avLst/>
              </a:prstGeom>
            </p:spPr>
          </p:pic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66667" y="1419861"/>
                <a:ext cx="2132652" cy="1199617"/>
              </a:xfrm>
              <a:prstGeom prst="rect">
                <a:avLst/>
              </a:prstGeom>
            </p:spPr>
          </p:pic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16667" y="1569861"/>
                <a:ext cx="2132652" cy="1199617"/>
              </a:xfrm>
              <a:prstGeom prst="rect">
                <a:avLst/>
              </a:prstGeom>
            </p:spPr>
          </p:pic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66667" y="1719861"/>
                <a:ext cx="2132652" cy="1199617"/>
              </a:xfrm>
              <a:prstGeom prst="rect">
                <a:avLst/>
              </a:prstGeom>
            </p:spPr>
          </p:pic>
        </p:grpSp>
        <p:sp>
          <p:nvSpPr>
            <p:cNvPr id="13" name="文本框 12"/>
            <p:cNvSpPr txBox="1"/>
            <p:nvPr/>
          </p:nvSpPr>
          <p:spPr>
            <a:xfrm>
              <a:off x="5687780" y="3086412"/>
              <a:ext cx="15440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Frame_*.</a:t>
              </a:r>
              <a:r>
                <a:rPr lang="en-US" altLang="zh-CN" sz="2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png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6" name="直接箭头连接符 15"/>
          <p:cNvCxnSpPr>
            <a:stCxn id="10" idx="3"/>
          </p:cNvCxnSpPr>
          <p:nvPr/>
        </p:nvCxnSpPr>
        <p:spPr>
          <a:xfrm>
            <a:off x="3506821" y="2019669"/>
            <a:ext cx="1442319" cy="1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3761838" y="1619558"/>
            <a:ext cx="9831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ffmpeg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7681792" y="1989742"/>
            <a:ext cx="12128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8881259" y="1758154"/>
            <a:ext cx="995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Colmap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742D-938E-4DDD-89D8-3F0A2D2D947D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399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742D-938E-4DDD-89D8-3F0A2D2D947D}" type="slidenum">
              <a:rPr lang="zh-CN" altLang="en-US" smtClean="0"/>
              <a:t>3</a:t>
            </a:fld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336993" y="1060915"/>
            <a:ext cx="9378846" cy="5477997"/>
            <a:chOff x="1321753" y="1060915"/>
            <a:chExt cx="9378846" cy="5477997"/>
          </a:xfrm>
        </p:grpSpPr>
        <p:grpSp>
          <p:nvGrpSpPr>
            <p:cNvPr id="16" name="组合 15"/>
            <p:cNvGrpSpPr/>
            <p:nvPr/>
          </p:nvGrpSpPr>
          <p:grpSpPr>
            <a:xfrm>
              <a:off x="1321753" y="1060915"/>
              <a:ext cx="9378846" cy="2493990"/>
              <a:chOff x="1321753" y="685800"/>
              <a:chExt cx="9378846" cy="249399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1321753" y="685800"/>
                <a:ext cx="3722454" cy="2493990"/>
                <a:chOff x="1628045" y="685800"/>
                <a:chExt cx="3722454" cy="2493990"/>
              </a:xfrm>
            </p:grpSpPr>
            <p:pic>
              <p:nvPicPr>
                <p:cNvPr id="3" name="图片 2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28045" y="685800"/>
                  <a:ext cx="3722454" cy="2093880"/>
                </a:xfrm>
                <a:prstGeom prst="rect">
                  <a:avLst/>
                </a:prstGeom>
              </p:spPr>
            </p:pic>
            <p:sp>
              <p:nvSpPr>
                <p:cNvPr id="5" name="文本框 4"/>
                <p:cNvSpPr txBox="1"/>
                <p:nvPr/>
              </p:nvSpPr>
              <p:spPr>
                <a:xfrm>
                  <a:off x="2653145" y="2779680"/>
                  <a:ext cx="167225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dirty="0" err="1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Frame_22.png</a:t>
                  </a:r>
                  <a:endPara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8" name="组合 7"/>
              <p:cNvGrpSpPr/>
              <p:nvPr/>
            </p:nvGrpSpPr>
            <p:grpSpPr>
              <a:xfrm>
                <a:off x="6978146" y="685800"/>
                <a:ext cx="3722453" cy="2493990"/>
                <a:chOff x="7417984" y="685800"/>
                <a:chExt cx="3722453" cy="2493990"/>
              </a:xfrm>
            </p:grpSpPr>
            <p:pic>
              <p:nvPicPr>
                <p:cNvPr id="4" name="图片 3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17984" y="685800"/>
                  <a:ext cx="3722453" cy="2093880"/>
                </a:xfrm>
                <a:prstGeom prst="rect">
                  <a:avLst/>
                </a:prstGeom>
              </p:spPr>
            </p:pic>
            <p:sp>
              <p:nvSpPr>
                <p:cNvPr id="6" name="文本框 5"/>
                <p:cNvSpPr txBox="1"/>
                <p:nvPr/>
              </p:nvSpPr>
              <p:spPr>
                <a:xfrm>
                  <a:off x="8443085" y="2779680"/>
                  <a:ext cx="167225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dirty="0" err="1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Frame_34.png</a:t>
                  </a:r>
                  <a:endPara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3" name="直接箭头连接符 12"/>
              <p:cNvCxnSpPr>
                <a:stCxn id="3" idx="3"/>
                <a:endCxn id="4" idx="1"/>
              </p:cNvCxnSpPr>
              <p:nvPr/>
            </p:nvCxnSpPr>
            <p:spPr>
              <a:xfrm>
                <a:off x="5044207" y="1732740"/>
                <a:ext cx="193393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14"/>
            <p:cNvGrpSpPr/>
            <p:nvPr/>
          </p:nvGrpSpPr>
          <p:grpSpPr>
            <a:xfrm>
              <a:off x="1946137" y="3810127"/>
              <a:ext cx="8343834" cy="2728785"/>
              <a:chOff x="1946137" y="3712495"/>
              <a:chExt cx="8343834" cy="2728785"/>
            </a:xfrm>
          </p:grpSpPr>
          <p:pic>
            <p:nvPicPr>
              <p:cNvPr id="2" name="图片 1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46137" y="3712495"/>
                <a:ext cx="8343834" cy="2328675"/>
              </a:xfrm>
              <a:prstGeom prst="rect">
                <a:avLst/>
              </a:prstGeom>
            </p:spPr>
          </p:pic>
          <p:sp>
            <p:nvSpPr>
              <p:cNvPr id="14" name="矩形 13"/>
              <p:cNvSpPr/>
              <p:nvPr/>
            </p:nvSpPr>
            <p:spPr>
              <a:xfrm>
                <a:off x="4137105" y="6041170"/>
                <a:ext cx="374814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rame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_22_frame_34_matches.png</a:t>
                </a:r>
              </a:p>
            </p:txBody>
          </p:sp>
        </p:grpSp>
      </p:grpSp>
      <p:sp>
        <p:nvSpPr>
          <p:cNvPr id="18" name="文本框 17"/>
          <p:cNvSpPr txBox="1"/>
          <p:nvPr/>
        </p:nvSpPr>
        <p:spPr>
          <a:xfrm>
            <a:off x="873760" y="243840"/>
            <a:ext cx="1928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977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200" y="319778"/>
            <a:ext cx="8112000" cy="2595636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742D-938E-4DDD-89D8-3F0A2D2D947D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80237" y="3046730"/>
            <a:ext cx="1099722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37 frames, no skip, with general process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300 frames with refined mapper (parameters), no skip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V3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37 frames with skipping step = 2, minimized angle = 1°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video frames are continuous and densely sampled, directly applying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Colmap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tends to reduce AUC performance due to over-redundant matches; moderate frame skipping yields more accurate and stable results.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27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3760" y="243840"/>
            <a:ext cx="31988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Task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742D-938E-4DDD-89D8-3F0A2D2D947D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73760" y="1079034"/>
            <a:ext cx="958975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 Matching Evaluation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 Localization and Reconstruction</a:t>
            </a: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HorizonGS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real/</a:t>
            </a:r>
            <a:r>
              <a:rPr lang="en-US" altLang="zh-C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road.zip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</a:t>
            </a:r>
            <a:r>
              <a:rPr lang="en-US" altLang="zh-C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huggingface.co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/datasets/</a:t>
            </a:r>
            <a:r>
              <a:rPr lang="en-US" altLang="zh-C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BoDai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/</a:t>
            </a:r>
            <a:r>
              <a:rPr lang="en-US" altLang="zh-C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HorizonGS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/tree/main/real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 use: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images/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aerial_h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(Scene 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Drone Nadir View)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images/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aerial_q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(Scene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 Drone Oblique View)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images/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street_cam1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(Scene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3: Air-to-Ground View)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transform.json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gt.json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288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742D-938E-4DDD-89D8-3F0A2D2D947D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66" y="1029175"/>
            <a:ext cx="6408975" cy="5509737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文本框 4"/>
          <p:cNvSpPr txBox="1"/>
          <p:nvPr/>
        </p:nvSpPr>
        <p:spPr>
          <a:xfrm>
            <a:off x="828040" y="137160"/>
            <a:ext cx="38395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Scripts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41456" y="890171"/>
            <a:ext cx="478831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MASt3R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geometry-preserving correspondence based on feature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reprojection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accuracy,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VGGT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extends this to structure-consistent reconstruction through transformer-based 3D reasoning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the same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reprojection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metric but differ fundamentally in how 3D information is inferred and aligned.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173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742D-938E-4DDD-89D8-3F0A2D2D947D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t="2055"/>
          <a:stretch/>
        </p:blipFill>
        <p:spPr>
          <a:xfrm>
            <a:off x="266384" y="1087900"/>
            <a:ext cx="7134674" cy="5023413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矩形 6"/>
          <p:cNvSpPr/>
          <p:nvPr/>
        </p:nvSpPr>
        <p:spPr>
          <a:xfrm>
            <a:off x="7437698" y="493540"/>
            <a:ext cx="449580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VGGT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achieves the highest geometric accuracy and consistency across all configurations, while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MASt3R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strong robustness after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reprojection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alignment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contrast,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SuperGlue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struggles with dense or low-parallax inputs, showing lower AUC and stability.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8040" y="137160"/>
            <a:ext cx="1620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28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742D-938E-4DDD-89D8-3F0A2D2D947D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66" y="1446126"/>
            <a:ext cx="9014646" cy="337980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08484" y="532607"/>
            <a:ext cx="6237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Localization &amp; Reconstruction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08484" y="5360309"/>
            <a:ext cx="996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Mast3r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demo_dust3r_ga.py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scene.glb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viser.Server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(Local Render)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/>
          <a:srcRect l="42057" t="11280" r="1551" b="18710"/>
          <a:stretch/>
        </p:blipFill>
        <p:spPr>
          <a:xfrm>
            <a:off x="8125428" y="257558"/>
            <a:ext cx="3611301" cy="2377136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137467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D742D-938E-4DDD-89D8-3F0A2D2D947D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65074" y="463759"/>
            <a:ext cx="6237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Localization &amp; Reconstruction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27" y="1147837"/>
            <a:ext cx="10162478" cy="379160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103970" y="5230292"/>
            <a:ext cx="8541954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Online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VGGT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://huggingface.co/spaces/facebook/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vggt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cvg.cit.tum.de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/data/datasets/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rgbd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-dataset/download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repo: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github.com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/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daxuanzi515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/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cs290U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69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82864" y="2697016"/>
            <a:ext cx="9042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Thanks!</a:t>
            </a:r>
            <a:endParaRPr lang="zh-CN" alt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939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921</Words>
  <Application>Microsoft Office PowerPoint</Application>
  <PresentationFormat>宽屏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宋体</vt:lpstr>
      <vt:lpstr>Arial</vt:lpstr>
      <vt:lpstr>Calibri</vt:lpstr>
      <vt:lpstr>Calibri Light</vt:lpstr>
      <vt:lpstr>Times New Roman</vt:lpstr>
      <vt:lpstr>Wingdings</vt:lpstr>
      <vt:lpstr>Office 主题</vt:lpstr>
      <vt:lpstr>Project 2: Image Matching, Camera Pose Estimation, and 3D Reconstruction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Microsoft 帐户</cp:lastModifiedBy>
  <cp:revision>151</cp:revision>
  <dcterms:created xsi:type="dcterms:W3CDTF">2025-11-02T13:23:02Z</dcterms:created>
  <dcterms:modified xsi:type="dcterms:W3CDTF">2025-11-03T00:50:51Z</dcterms:modified>
</cp:coreProperties>
</file>